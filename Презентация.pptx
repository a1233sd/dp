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70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napToObjects="1">
      <p:cViewPr varScale="1">
        <p:scale>
          <a:sx n="113" d="100"/>
          <a:sy n="113" d="100"/>
        </p:scale>
        <p:origin x="522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469880" y="-228600"/>
            <a:ext cx="1645920" cy="1645920"/>
          </a:xfrm>
          <a:prstGeom prst="ellipse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320040" y="5669280"/>
            <a:ext cx="1463040" cy="1463040"/>
          </a:xfrm>
          <a:prstGeom prst="ellipse">
            <a:avLst/>
          </a:prstGeom>
          <a:solidFill>
            <a:srgbClr val="F2E5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440680"/>
            <a:ext cx="12191695" cy="141732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rial"/>
              </a:rPr>
              <a:t>Автоматизированная система проверки статей на плагиат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33172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0">
                <a:solidFill>
                  <a:srgbClr val="E6F4F2"/>
                </a:solidFill>
                <a:latin typeface="Arial"/>
              </a:rPr>
              <a:t>с визуальным выделением заимствований в тексте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23560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FFFFF"/>
                </a:solidFill>
                <a:latin typeface="Arial"/>
              </a:rPr>
              <a:t>Выполнил: Васильев Владимир Михайлович, ИУ5Ц-101Б</a:t>
            </a:r>
            <a:br/>
            <a:r>
              <a:rPr sz="1700" b="0">
                <a:solidFill>
                  <a:srgbClr val="FFFFFF"/>
                </a:solidFill>
                <a:latin typeface="Arial"/>
              </a:rPr>
              <a:t>Научный руководитель: А.М. Балашов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0680" y="647395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CF0ED"/>
                </a:solidFill>
                <a:latin typeface="Arial"/>
              </a:rPr>
              <a:t>предзащита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469880" y="-228600"/>
            <a:ext cx="1645920" cy="1645920"/>
          </a:xfrm>
          <a:prstGeom prst="ellipse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320040" y="5669280"/>
            <a:ext cx="1463040" cy="1463040"/>
          </a:xfrm>
          <a:prstGeom prst="ellipse">
            <a:avLst/>
          </a:prstGeom>
          <a:solidFill>
            <a:srgbClr val="F2E5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937"/>
                </a:solidFill>
                <a:latin typeface="Arial"/>
              </a:rPr>
              <a:t>Цель и задачи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1920240" cy="4572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40680" y="647395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B626E"/>
                </a:solidFill>
                <a:latin typeface="Arial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10972800" cy="1325880"/>
          </a:xfrm>
          <a:prstGeom prst="roundRect">
            <a:avLst/>
          </a:prstGeom>
          <a:solidFill>
            <a:srgbClr val="E8F4F0"/>
          </a:solidFill>
          <a:ln>
            <a:solidFill>
              <a:srgbClr val="DAC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F766E"/>
                </a:solidFill>
                <a:latin typeface="Arial"/>
              </a:rPr>
              <a:t>Цель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417320"/>
            <a:ext cx="9052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Arial"/>
              </a:rPr>
              <a:t>Создать локальную систему, которая помогает проверять учебные и научные тексты на заимствования и делает результат проверки понятным для пользователя.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71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B45309"/>
                </a:solidFill>
                <a:latin typeface="Arial"/>
              </a:rPr>
              <a:t>Задачи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520440"/>
            <a:ext cx="5029200" cy="731520"/>
          </a:xfrm>
          <a:prstGeom prst="roundRect">
            <a:avLst/>
          </a:prstGeom>
          <a:solidFill>
            <a:srgbClr val="FFFDF8"/>
          </a:solidFill>
          <a:ln>
            <a:solidFill>
              <a:srgbClr val="DAC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14400" y="3685032"/>
            <a:ext cx="438912" cy="393192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529584"/>
            <a:ext cx="4069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dirty="0" err="1">
                <a:solidFill>
                  <a:srgbClr val="1F2937"/>
                </a:solidFill>
                <a:latin typeface="Arial"/>
              </a:rPr>
              <a:t>изучить</a:t>
            </a:r>
            <a:r>
              <a:rPr sz="15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1F2937"/>
                </a:solidFill>
                <a:latin typeface="Arial"/>
              </a:rPr>
              <a:t>предметную</a:t>
            </a:r>
            <a:r>
              <a:rPr sz="15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1F2937"/>
                </a:solidFill>
                <a:latin typeface="Arial"/>
              </a:rPr>
              <a:t>область</a:t>
            </a:r>
            <a:r>
              <a:rPr sz="1500" b="0" dirty="0">
                <a:solidFill>
                  <a:srgbClr val="1F2937"/>
                </a:solidFill>
                <a:latin typeface="Arial"/>
              </a:rPr>
              <a:t> и </a:t>
            </a:r>
            <a:r>
              <a:rPr sz="1500" b="0" dirty="0" err="1">
                <a:solidFill>
                  <a:srgbClr val="1F2937"/>
                </a:solidFill>
                <a:latin typeface="Arial"/>
              </a:rPr>
              <a:t>существующие</a:t>
            </a:r>
            <a:r>
              <a:rPr sz="15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1F2937"/>
                </a:solidFill>
                <a:latin typeface="Arial"/>
              </a:rPr>
              <a:t>подходы</a:t>
            </a:r>
            <a:r>
              <a:rPr sz="1500" b="0" dirty="0">
                <a:solidFill>
                  <a:srgbClr val="1F2937"/>
                </a:solidFill>
                <a:latin typeface="Arial"/>
              </a:rPr>
              <a:t> к </a:t>
            </a:r>
            <a:r>
              <a:rPr sz="1500" b="0" dirty="0" err="1">
                <a:solidFill>
                  <a:srgbClr val="1F2937"/>
                </a:solidFill>
                <a:latin typeface="Arial"/>
              </a:rPr>
              <a:t>проверке</a:t>
            </a:r>
            <a:r>
              <a:rPr sz="15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1F2937"/>
                </a:solidFill>
                <a:latin typeface="Arial"/>
              </a:rPr>
              <a:t>оригинальности</a:t>
            </a:r>
            <a:endParaRPr sz="1500" b="0" dirty="0">
              <a:solidFill>
                <a:srgbClr val="1F2937"/>
              </a:solidFill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63640" y="3520440"/>
            <a:ext cx="5029200" cy="731520"/>
          </a:xfrm>
          <a:prstGeom prst="roundRect">
            <a:avLst/>
          </a:prstGeom>
          <a:solidFill>
            <a:srgbClr val="FFFDF8"/>
          </a:solidFill>
          <a:ln>
            <a:solidFill>
              <a:srgbClr val="DAC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00800" y="3685032"/>
            <a:ext cx="438912" cy="393192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6872" y="3666744"/>
            <a:ext cx="4069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Arial"/>
              </a:rPr>
              <a:t>спроектировать архитектуру приложения и структуру хранения данных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572000"/>
            <a:ext cx="5029200" cy="731520"/>
          </a:xfrm>
          <a:prstGeom prst="roundRect">
            <a:avLst/>
          </a:prstGeom>
          <a:solidFill>
            <a:srgbClr val="FFFDF8"/>
          </a:solidFill>
          <a:ln>
            <a:solidFill>
              <a:srgbClr val="DAC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14400" y="4736592"/>
            <a:ext cx="438912" cy="393192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0472" y="4718304"/>
            <a:ext cx="4069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Arial"/>
              </a:rPr>
              <a:t>реализовать загрузку документов, сравнение текстов и формирование отчёта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572000"/>
            <a:ext cx="5029200" cy="731520"/>
          </a:xfrm>
          <a:prstGeom prst="roundRect">
            <a:avLst/>
          </a:prstGeom>
          <a:solidFill>
            <a:srgbClr val="FFFDF8"/>
          </a:solidFill>
          <a:ln>
            <a:solidFill>
              <a:srgbClr val="DAC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00800" y="4736592"/>
            <a:ext cx="438912" cy="393192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76872" y="4718304"/>
            <a:ext cx="4069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Arial"/>
              </a:rPr>
              <a:t>проверить работу основных сценариев на тестовых примерах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469880" y="-228600"/>
            <a:ext cx="1645920" cy="1645920"/>
          </a:xfrm>
          <a:prstGeom prst="ellipse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320040" y="5669280"/>
            <a:ext cx="1463040" cy="1463040"/>
          </a:xfrm>
          <a:prstGeom prst="ellipse">
            <a:avLst/>
          </a:prstGeom>
          <a:solidFill>
            <a:srgbClr val="F2E5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937"/>
                </a:solidFill>
                <a:latin typeface="Arial"/>
              </a:rPr>
              <a:t>Актуальность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1920240" cy="4572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40680" y="647395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B626E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6766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 dirty="0">
                <a:solidFill>
                  <a:srgbClr val="1F2937"/>
                </a:solidFill>
                <a:latin typeface="Arial"/>
              </a:rPr>
              <a:t>• </a:t>
            </a:r>
            <a:r>
              <a:rPr sz="2100" dirty="0" err="1">
                <a:solidFill>
                  <a:srgbClr val="1F2937"/>
                </a:solidFill>
                <a:latin typeface="Arial"/>
              </a:rPr>
              <a:t>объём</a:t>
            </a:r>
            <a:r>
              <a:rPr sz="2100" dirty="0">
                <a:solidFill>
                  <a:srgbClr val="1F2937"/>
                </a:solidFill>
                <a:latin typeface="Arial"/>
              </a:rPr>
              <a:t> </a:t>
            </a:r>
            <a:r>
              <a:rPr sz="2100" dirty="0" err="1">
                <a:solidFill>
                  <a:srgbClr val="1F2937"/>
                </a:solidFill>
                <a:latin typeface="Arial"/>
              </a:rPr>
              <a:t>электронных</a:t>
            </a:r>
            <a:r>
              <a:rPr sz="2100" dirty="0">
                <a:solidFill>
                  <a:srgbClr val="1F2937"/>
                </a:solidFill>
                <a:latin typeface="Arial"/>
              </a:rPr>
              <a:t> </a:t>
            </a:r>
            <a:r>
              <a:rPr sz="2100" dirty="0" err="1">
                <a:solidFill>
                  <a:srgbClr val="1F2937"/>
                </a:solidFill>
                <a:latin typeface="Arial"/>
              </a:rPr>
              <a:t>учебных</a:t>
            </a:r>
            <a:r>
              <a:rPr sz="2100" dirty="0">
                <a:solidFill>
                  <a:srgbClr val="1F2937"/>
                </a:solidFill>
                <a:latin typeface="Arial"/>
              </a:rPr>
              <a:t> </a:t>
            </a:r>
            <a:r>
              <a:rPr sz="2100" dirty="0" err="1">
                <a:solidFill>
                  <a:srgbClr val="1F2937"/>
                </a:solidFill>
                <a:latin typeface="Arial"/>
              </a:rPr>
              <a:t>материалов</a:t>
            </a:r>
            <a:r>
              <a:rPr sz="2100" dirty="0">
                <a:solidFill>
                  <a:srgbClr val="1F2937"/>
                </a:solidFill>
                <a:latin typeface="Arial"/>
              </a:rPr>
              <a:t> </a:t>
            </a:r>
            <a:r>
              <a:rPr sz="2100" dirty="0" err="1">
                <a:solidFill>
                  <a:srgbClr val="1F2937"/>
                </a:solidFill>
                <a:latin typeface="Arial"/>
              </a:rPr>
              <a:t>постоянно</a:t>
            </a:r>
            <a:r>
              <a:rPr sz="2100" dirty="0">
                <a:solidFill>
                  <a:srgbClr val="1F2937"/>
                </a:solidFill>
                <a:latin typeface="Arial"/>
              </a:rPr>
              <a:t> </a:t>
            </a:r>
            <a:r>
              <a:rPr sz="2100" dirty="0" err="1">
                <a:solidFill>
                  <a:srgbClr val="1F2937"/>
                </a:solidFill>
                <a:latin typeface="Arial"/>
              </a:rPr>
              <a:t>растёт</a:t>
            </a:r>
            <a:endParaRPr sz="2100" dirty="0">
              <a:solidFill>
                <a:srgbClr val="1F2937"/>
              </a:solidFill>
              <a:latin typeface="Arial"/>
            </a:endParaRPr>
          </a:p>
          <a:p>
            <a:pPr>
              <a:spcAft>
                <a:spcPts val="800"/>
              </a:spcAft>
            </a:pPr>
            <a:r>
              <a:rPr sz="2100" dirty="0">
                <a:solidFill>
                  <a:srgbClr val="1F2937"/>
                </a:solidFill>
                <a:latin typeface="Arial"/>
              </a:rPr>
              <a:t>• </a:t>
            </a:r>
            <a:r>
              <a:rPr sz="2100" dirty="0" err="1">
                <a:solidFill>
                  <a:srgbClr val="1F2937"/>
                </a:solidFill>
                <a:latin typeface="Arial"/>
              </a:rPr>
              <a:t>ручная</a:t>
            </a:r>
            <a:r>
              <a:rPr sz="2100" dirty="0">
                <a:solidFill>
                  <a:srgbClr val="1F2937"/>
                </a:solidFill>
                <a:latin typeface="Arial"/>
              </a:rPr>
              <a:t> </a:t>
            </a:r>
            <a:r>
              <a:rPr sz="2100" dirty="0" err="1">
                <a:solidFill>
                  <a:srgbClr val="1F2937"/>
                </a:solidFill>
                <a:latin typeface="Arial"/>
              </a:rPr>
              <a:t>проверка</a:t>
            </a:r>
            <a:r>
              <a:rPr sz="2100" dirty="0">
                <a:solidFill>
                  <a:srgbClr val="1F2937"/>
                </a:solidFill>
                <a:latin typeface="Arial"/>
              </a:rPr>
              <a:t> </a:t>
            </a:r>
            <a:r>
              <a:rPr sz="2100" dirty="0" err="1">
                <a:solidFill>
                  <a:srgbClr val="1F2937"/>
                </a:solidFill>
                <a:latin typeface="Arial"/>
              </a:rPr>
              <a:t>большого</a:t>
            </a:r>
            <a:r>
              <a:rPr sz="2100" dirty="0">
                <a:solidFill>
                  <a:srgbClr val="1F2937"/>
                </a:solidFill>
                <a:latin typeface="Arial"/>
              </a:rPr>
              <a:t> </a:t>
            </a:r>
            <a:r>
              <a:rPr sz="2100" dirty="0" err="1">
                <a:solidFill>
                  <a:srgbClr val="1F2937"/>
                </a:solidFill>
                <a:latin typeface="Arial"/>
              </a:rPr>
              <a:t>количества</a:t>
            </a:r>
            <a:r>
              <a:rPr sz="2100" dirty="0">
                <a:solidFill>
                  <a:srgbClr val="1F2937"/>
                </a:solidFill>
                <a:latin typeface="Arial"/>
              </a:rPr>
              <a:t> </a:t>
            </a:r>
            <a:r>
              <a:rPr sz="2100" dirty="0" err="1">
                <a:solidFill>
                  <a:srgbClr val="1F2937"/>
                </a:solidFill>
                <a:latin typeface="Arial"/>
              </a:rPr>
              <a:t>работ</a:t>
            </a:r>
            <a:r>
              <a:rPr sz="2100" dirty="0">
                <a:solidFill>
                  <a:srgbClr val="1F2937"/>
                </a:solidFill>
                <a:latin typeface="Arial"/>
              </a:rPr>
              <a:t> </a:t>
            </a:r>
            <a:r>
              <a:rPr sz="2100" dirty="0" err="1">
                <a:solidFill>
                  <a:srgbClr val="1F2937"/>
                </a:solidFill>
                <a:latin typeface="Arial"/>
              </a:rPr>
              <a:t>занимает</a:t>
            </a:r>
            <a:r>
              <a:rPr sz="2100" dirty="0">
                <a:solidFill>
                  <a:srgbClr val="1F2937"/>
                </a:solidFill>
                <a:latin typeface="Arial"/>
              </a:rPr>
              <a:t> </a:t>
            </a:r>
            <a:r>
              <a:rPr sz="2100" dirty="0" err="1">
                <a:solidFill>
                  <a:srgbClr val="1F2937"/>
                </a:solidFill>
                <a:latin typeface="Arial"/>
              </a:rPr>
              <a:t>много</a:t>
            </a:r>
            <a:r>
              <a:rPr sz="2100" dirty="0">
                <a:solidFill>
                  <a:srgbClr val="1F2937"/>
                </a:solidFill>
                <a:latin typeface="Arial"/>
              </a:rPr>
              <a:t> </a:t>
            </a:r>
            <a:r>
              <a:rPr sz="2100" dirty="0" err="1">
                <a:solidFill>
                  <a:srgbClr val="1F2937"/>
                </a:solidFill>
                <a:latin typeface="Arial"/>
              </a:rPr>
              <a:t>времени</a:t>
            </a:r>
            <a:endParaRPr sz="2100" dirty="0">
              <a:solidFill>
                <a:srgbClr val="1F2937"/>
              </a:solidFill>
              <a:latin typeface="Arial"/>
            </a:endParaRPr>
          </a:p>
          <a:p>
            <a:pPr>
              <a:spcAft>
                <a:spcPts val="800"/>
              </a:spcAft>
            </a:pPr>
            <a:r>
              <a:rPr sz="2100" dirty="0">
                <a:solidFill>
                  <a:srgbClr val="1F2937"/>
                </a:solidFill>
                <a:latin typeface="Arial"/>
              </a:rPr>
              <a:t>• </a:t>
            </a:r>
            <a:r>
              <a:rPr sz="2100" dirty="0" err="1">
                <a:solidFill>
                  <a:srgbClr val="1F2937"/>
                </a:solidFill>
                <a:latin typeface="Arial"/>
              </a:rPr>
              <a:t>преподавателю</a:t>
            </a:r>
            <a:r>
              <a:rPr sz="2100" dirty="0">
                <a:solidFill>
                  <a:srgbClr val="1F2937"/>
                </a:solidFill>
                <a:latin typeface="Arial"/>
              </a:rPr>
              <a:t> </a:t>
            </a:r>
            <a:r>
              <a:rPr sz="2100" dirty="0" err="1">
                <a:solidFill>
                  <a:srgbClr val="1F2937"/>
                </a:solidFill>
                <a:latin typeface="Arial"/>
              </a:rPr>
              <a:t>важно</a:t>
            </a:r>
            <a:r>
              <a:rPr sz="2100" dirty="0">
                <a:solidFill>
                  <a:srgbClr val="1F2937"/>
                </a:solidFill>
                <a:latin typeface="Arial"/>
              </a:rPr>
              <a:t> </a:t>
            </a:r>
            <a:r>
              <a:rPr sz="2100" dirty="0" err="1">
                <a:solidFill>
                  <a:srgbClr val="1F2937"/>
                </a:solidFill>
                <a:latin typeface="Arial"/>
              </a:rPr>
              <a:t>видеть</a:t>
            </a:r>
            <a:r>
              <a:rPr sz="2100" dirty="0">
                <a:solidFill>
                  <a:srgbClr val="1F2937"/>
                </a:solidFill>
                <a:latin typeface="Arial"/>
              </a:rPr>
              <a:t> </a:t>
            </a:r>
            <a:r>
              <a:rPr sz="2100" dirty="0" err="1">
                <a:solidFill>
                  <a:srgbClr val="1F2937"/>
                </a:solidFill>
                <a:latin typeface="Arial"/>
              </a:rPr>
              <a:t>не</a:t>
            </a:r>
            <a:r>
              <a:rPr sz="2100" dirty="0">
                <a:solidFill>
                  <a:srgbClr val="1F2937"/>
                </a:solidFill>
                <a:latin typeface="Arial"/>
              </a:rPr>
              <a:t> </a:t>
            </a:r>
            <a:r>
              <a:rPr sz="2100" dirty="0" err="1">
                <a:solidFill>
                  <a:srgbClr val="1F2937"/>
                </a:solidFill>
                <a:latin typeface="Arial"/>
              </a:rPr>
              <a:t>только</a:t>
            </a:r>
            <a:r>
              <a:rPr sz="2100" dirty="0">
                <a:solidFill>
                  <a:srgbClr val="1F2937"/>
                </a:solidFill>
                <a:latin typeface="Arial"/>
              </a:rPr>
              <a:t> </a:t>
            </a:r>
            <a:r>
              <a:rPr sz="2100" dirty="0" err="1">
                <a:solidFill>
                  <a:srgbClr val="1F2937"/>
                </a:solidFill>
                <a:latin typeface="Arial"/>
              </a:rPr>
              <a:t>процент</a:t>
            </a:r>
            <a:r>
              <a:rPr sz="2100" dirty="0">
                <a:solidFill>
                  <a:srgbClr val="1F2937"/>
                </a:solidFill>
                <a:latin typeface="Arial"/>
              </a:rPr>
              <a:t>, </a:t>
            </a:r>
            <a:r>
              <a:rPr sz="2100" dirty="0" err="1">
                <a:solidFill>
                  <a:srgbClr val="1F2937"/>
                </a:solidFill>
                <a:latin typeface="Arial"/>
              </a:rPr>
              <a:t>но</a:t>
            </a:r>
            <a:r>
              <a:rPr sz="2100" dirty="0">
                <a:solidFill>
                  <a:srgbClr val="1F2937"/>
                </a:solidFill>
                <a:latin typeface="Arial"/>
              </a:rPr>
              <a:t> и </a:t>
            </a:r>
            <a:r>
              <a:rPr sz="2100" dirty="0" err="1">
                <a:solidFill>
                  <a:srgbClr val="1F2937"/>
                </a:solidFill>
                <a:latin typeface="Arial"/>
              </a:rPr>
              <a:t>причины</a:t>
            </a:r>
            <a:r>
              <a:rPr sz="2100" dirty="0">
                <a:solidFill>
                  <a:srgbClr val="1F2937"/>
                </a:solidFill>
                <a:latin typeface="Arial"/>
              </a:rPr>
              <a:t> </a:t>
            </a:r>
            <a:r>
              <a:rPr sz="2100" dirty="0" err="1">
                <a:solidFill>
                  <a:srgbClr val="1F2937"/>
                </a:solidFill>
                <a:latin typeface="Arial"/>
              </a:rPr>
              <a:t>оценки</a:t>
            </a:r>
            <a:endParaRPr sz="2100" dirty="0">
              <a:solidFill>
                <a:srgbClr val="1F2937"/>
              </a:solidFill>
              <a:latin typeface="Arial"/>
            </a:endParaRPr>
          </a:p>
          <a:p>
            <a:pPr>
              <a:spcAft>
                <a:spcPts val="800"/>
              </a:spcAft>
            </a:pPr>
            <a:r>
              <a:rPr sz="2100" dirty="0">
                <a:solidFill>
                  <a:srgbClr val="1F2937"/>
                </a:solidFill>
                <a:latin typeface="Arial"/>
              </a:rPr>
              <a:t>• </a:t>
            </a:r>
            <a:r>
              <a:rPr sz="2100" dirty="0" err="1">
                <a:solidFill>
                  <a:srgbClr val="1F2937"/>
                </a:solidFill>
                <a:latin typeface="Arial"/>
              </a:rPr>
              <a:t>локальное</a:t>
            </a:r>
            <a:r>
              <a:rPr sz="2100" dirty="0">
                <a:solidFill>
                  <a:srgbClr val="1F2937"/>
                </a:solidFill>
                <a:latin typeface="Arial"/>
              </a:rPr>
              <a:t> </a:t>
            </a:r>
            <a:r>
              <a:rPr sz="2100" dirty="0" err="1">
                <a:solidFill>
                  <a:srgbClr val="1F2937"/>
                </a:solidFill>
                <a:latin typeface="Arial"/>
              </a:rPr>
              <a:t>решение</a:t>
            </a:r>
            <a:r>
              <a:rPr sz="2100" dirty="0">
                <a:solidFill>
                  <a:srgbClr val="1F2937"/>
                </a:solidFill>
                <a:latin typeface="Arial"/>
              </a:rPr>
              <a:t> </a:t>
            </a:r>
            <a:r>
              <a:rPr sz="2100" dirty="0" err="1">
                <a:solidFill>
                  <a:srgbClr val="1F2937"/>
                </a:solidFill>
                <a:latin typeface="Arial"/>
              </a:rPr>
              <a:t>помогает</a:t>
            </a:r>
            <a:r>
              <a:rPr sz="2100" dirty="0">
                <a:solidFill>
                  <a:srgbClr val="1F2937"/>
                </a:solidFill>
                <a:latin typeface="Arial"/>
              </a:rPr>
              <a:t> </a:t>
            </a:r>
            <a:r>
              <a:rPr sz="2100" dirty="0" err="1">
                <a:solidFill>
                  <a:srgbClr val="1F2937"/>
                </a:solidFill>
                <a:latin typeface="Arial"/>
              </a:rPr>
              <a:t>сохранить</a:t>
            </a:r>
            <a:r>
              <a:rPr sz="2100" dirty="0">
                <a:solidFill>
                  <a:srgbClr val="1F2937"/>
                </a:solidFill>
                <a:latin typeface="Arial"/>
              </a:rPr>
              <a:t> </a:t>
            </a:r>
            <a:r>
              <a:rPr sz="2100" dirty="0" err="1">
                <a:solidFill>
                  <a:srgbClr val="1F2937"/>
                </a:solidFill>
                <a:latin typeface="Arial"/>
              </a:rPr>
              <a:t>контроль</a:t>
            </a:r>
            <a:r>
              <a:rPr sz="2100" dirty="0">
                <a:solidFill>
                  <a:srgbClr val="1F2937"/>
                </a:solidFill>
                <a:latin typeface="Arial"/>
              </a:rPr>
              <a:t> </a:t>
            </a:r>
            <a:r>
              <a:rPr sz="2100" dirty="0" err="1">
                <a:solidFill>
                  <a:srgbClr val="1F2937"/>
                </a:solidFill>
                <a:latin typeface="Arial"/>
              </a:rPr>
              <a:t>над</a:t>
            </a:r>
            <a:r>
              <a:rPr sz="2100" dirty="0">
                <a:solidFill>
                  <a:srgbClr val="1F2937"/>
                </a:solidFill>
                <a:latin typeface="Arial"/>
              </a:rPr>
              <a:t> </a:t>
            </a:r>
            <a:r>
              <a:rPr sz="2100" dirty="0" err="1">
                <a:solidFill>
                  <a:srgbClr val="1F2937"/>
                </a:solidFill>
                <a:latin typeface="Arial"/>
              </a:rPr>
              <a:t>учебными</a:t>
            </a:r>
            <a:r>
              <a:rPr sz="2100" dirty="0">
                <a:solidFill>
                  <a:srgbClr val="1F2937"/>
                </a:solidFill>
                <a:latin typeface="Arial"/>
              </a:rPr>
              <a:t> </a:t>
            </a:r>
            <a:r>
              <a:rPr sz="2100" dirty="0" err="1">
                <a:solidFill>
                  <a:srgbClr val="1F2937"/>
                </a:solidFill>
                <a:latin typeface="Arial"/>
              </a:rPr>
              <a:t>материалами</a:t>
            </a:r>
            <a:endParaRPr sz="2100" dirty="0">
              <a:solidFill>
                <a:srgbClr val="1F2937"/>
              </a:solidFill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909560" y="1508760"/>
            <a:ext cx="3246120" cy="3337560"/>
          </a:xfrm>
          <a:prstGeom prst="roundRect">
            <a:avLst/>
          </a:prstGeom>
          <a:solidFill>
            <a:srgbClr val="FFFAF1"/>
          </a:solidFill>
          <a:ln>
            <a:solidFill>
              <a:srgbClr val="E8D1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83879" y="1828800"/>
            <a:ext cx="2697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B45309"/>
                </a:solidFill>
                <a:latin typeface="Arial"/>
              </a:rPr>
              <a:t>проверка должна быть не только быстрой, но и объяснимой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36576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B626E"/>
                </a:solidFill>
                <a:latin typeface="Arial"/>
              </a:rPr>
              <a:t>Главная ценность системы - прозрачная первичная проверка, которую можно повторять и объяснять.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469880" y="-228600"/>
            <a:ext cx="1645920" cy="1645920"/>
          </a:xfrm>
          <a:prstGeom prst="ellipse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320040" y="5669280"/>
            <a:ext cx="1463040" cy="1463040"/>
          </a:xfrm>
          <a:prstGeom prst="ellipse">
            <a:avLst/>
          </a:prstGeom>
          <a:solidFill>
            <a:srgbClr val="F2E5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937"/>
                </a:solidFill>
                <a:latin typeface="Arial"/>
              </a:rPr>
              <a:t>Предметная область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1920240" cy="4572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40680" y="647395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B626E"/>
                </a:solidFill>
                <a:latin typeface="Arial"/>
              </a:rPr>
              <a:t>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26080" y="2423160"/>
            <a:ext cx="521208" cy="0"/>
          </a:xfrm>
          <a:prstGeom prst="line">
            <a:avLst/>
          </a:prstGeom>
          <a:ln w="254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760720" y="2423160"/>
            <a:ext cx="521208" cy="0"/>
          </a:xfrm>
          <a:prstGeom prst="line">
            <a:avLst/>
          </a:prstGeom>
          <a:ln w="254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595360" y="2423160"/>
            <a:ext cx="521208" cy="0"/>
          </a:xfrm>
          <a:prstGeom prst="line">
            <a:avLst/>
          </a:prstGeom>
          <a:ln w="254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85800" y="1828800"/>
            <a:ext cx="2331720" cy="1325880"/>
          </a:xfrm>
          <a:prstGeom prst="roundRect">
            <a:avLst/>
          </a:prstGeom>
          <a:solidFill>
            <a:srgbClr val="FFFDF8"/>
          </a:solidFill>
          <a:ln>
            <a:solidFill>
              <a:srgbClr val="DAC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50392" y="1993392"/>
            <a:ext cx="411480" cy="393192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993392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 err="1">
                <a:solidFill>
                  <a:srgbClr val="1F2937"/>
                </a:solidFill>
                <a:latin typeface="Arial"/>
              </a:rPr>
              <a:t>Учебная</a:t>
            </a:r>
            <a:r>
              <a:rPr sz="1600" b="1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1F2937"/>
                </a:solidFill>
                <a:latin typeface="Arial"/>
              </a:rPr>
              <a:t>работа</a:t>
            </a:r>
            <a:endParaRPr sz="1600" b="1" dirty="0">
              <a:solidFill>
                <a:srgbClr val="1F2937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6112" y="2487168"/>
            <a:ext cx="202996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dirty="0" err="1">
                <a:solidFill>
                  <a:srgbClr val="5B626E"/>
                </a:solidFill>
                <a:latin typeface="Arial"/>
              </a:rPr>
              <a:t>текст</a:t>
            </a:r>
            <a:r>
              <a:rPr sz="1300" b="0" dirty="0">
                <a:solidFill>
                  <a:srgbClr val="5B626E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5B626E"/>
                </a:solidFill>
                <a:latin typeface="Arial"/>
              </a:rPr>
              <a:t>или</a:t>
            </a:r>
            <a:r>
              <a:rPr sz="1300" b="0" dirty="0">
                <a:solidFill>
                  <a:srgbClr val="5B626E"/>
                </a:solidFill>
                <a:latin typeface="Arial"/>
              </a:rPr>
              <a:t> PDF, </a:t>
            </a:r>
            <a:r>
              <a:rPr sz="1300" b="0" dirty="0" err="1">
                <a:solidFill>
                  <a:srgbClr val="5B626E"/>
                </a:solidFill>
                <a:latin typeface="Arial"/>
              </a:rPr>
              <a:t>который</a:t>
            </a:r>
            <a:r>
              <a:rPr sz="1300" b="0" dirty="0">
                <a:solidFill>
                  <a:srgbClr val="5B626E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5B626E"/>
                </a:solidFill>
                <a:latin typeface="Arial"/>
              </a:rPr>
              <a:t>нужно</a:t>
            </a:r>
            <a:r>
              <a:rPr sz="1300" b="0" dirty="0">
                <a:solidFill>
                  <a:srgbClr val="5B626E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5B626E"/>
                </a:solidFill>
                <a:latin typeface="Arial"/>
              </a:rPr>
              <a:t>проверить</a:t>
            </a:r>
            <a:endParaRPr sz="1300" b="0" dirty="0">
              <a:solidFill>
                <a:srgbClr val="5B626E"/>
              </a:solidFill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520440" y="1828800"/>
            <a:ext cx="2331720" cy="1325880"/>
          </a:xfrm>
          <a:prstGeom prst="roundRect">
            <a:avLst/>
          </a:prstGeom>
          <a:solidFill>
            <a:srgbClr val="FFFDF8"/>
          </a:solidFill>
          <a:ln>
            <a:solidFill>
              <a:srgbClr val="DAC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685032" y="1993392"/>
            <a:ext cx="411480" cy="393192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1993392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2937"/>
                </a:solidFill>
                <a:latin typeface="Arial"/>
              </a:rPr>
              <a:t>Архив источников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0752" y="2487168"/>
            <a:ext cx="219456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dirty="0" err="1">
                <a:solidFill>
                  <a:srgbClr val="5B626E"/>
                </a:solidFill>
                <a:latin typeface="Arial"/>
              </a:rPr>
              <a:t>эталонные</a:t>
            </a:r>
            <a:r>
              <a:rPr sz="1300" b="0" dirty="0">
                <a:solidFill>
                  <a:srgbClr val="5B626E"/>
                </a:solidFill>
                <a:latin typeface="Arial"/>
              </a:rPr>
              <a:t> и </a:t>
            </a:r>
            <a:r>
              <a:rPr sz="1300" b="0" dirty="0" err="1">
                <a:solidFill>
                  <a:srgbClr val="5B626E"/>
                </a:solidFill>
                <a:latin typeface="Arial"/>
              </a:rPr>
              <a:t>ранее</a:t>
            </a:r>
            <a:r>
              <a:rPr sz="1300" b="0" dirty="0">
                <a:solidFill>
                  <a:srgbClr val="5B626E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5B626E"/>
                </a:solidFill>
                <a:latin typeface="Arial"/>
              </a:rPr>
              <a:t>признанные</a:t>
            </a:r>
            <a:r>
              <a:rPr sz="1300" b="0" dirty="0">
                <a:solidFill>
                  <a:srgbClr val="5B626E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5B626E"/>
                </a:solidFill>
                <a:latin typeface="Arial"/>
              </a:rPr>
              <a:t>уникальными</a:t>
            </a:r>
            <a:r>
              <a:rPr sz="1300" b="0" dirty="0">
                <a:solidFill>
                  <a:srgbClr val="5B626E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5B626E"/>
                </a:solidFill>
                <a:latin typeface="Arial"/>
              </a:rPr>
              <a:t>документы</a:t>
            </a:r>
            <a:endParaRPr sz="1300" b="0" dirty="0">
              <a:solidFill>
                <a:srgbClr val="5B626E"/>
              </a:solidFill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355080" y="1828800"/>
            <a:ext cx="2331720" cy="1325880"/>
          </a:xfrm>
          <a:prstGeom prst="roundRect">
            <a:avLst/>
          </a:prstGeom>
          <a:solidFill>
            <a:srgbClr val="FFFDF8"/>
          </a:solidFill>
          <a:ln>
            <a:solidFill>
              <a:srgbClr val="DAC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519672" y="1993392"/>
            <a:ext cx="411480" cy="393192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1993392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2937"/>
                </a:solidFill>
                <a:latin typeface="Arial"/>
              </a:rPr>
              <a:t>Проверка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2487168"/>
            <a:ext cx="2029968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dirty="0" err="1">
                <a:solidFill>
                  <a:srgbClr val="5B626E"/>
                </a:solidFill>
                <a:latin typeface="Arial"/>
              </a:rPr>
              <a:t>сравнение</a:t>
            </a:r>
            <a:r>
              <a:rPr sz="1300" b="0" dirty="0">
                <a:solidFill>
                  <a:srgbClr val="5B626E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5B626E"/>
                </a:solidFill>
                <a:latin typeface="Arial"/>
              </a:rPr>
              <a:t>текста</a:t>
            </a:r>
            <a:r>
              <a:rPr sz="1300" b="0" dirty="0">
                <a:solidFill>
                  <a:srgbClr val="5B626E"/>
                </a:solidFill>
                <a:latin typeface="Arial"/>
              </a:rPr>
              <a:t> с </a:t>
            </a:r>
            <a:r>
              <a:rPr sz="1300" b="0" dirty="0" err="1">
                <a:solidFill>
                  <a:srgbClr val="5B626E"/>
                </a:solidFill>
                <a:latin typeface="Arial"/>
              </a:rPr>
              <a:t>накопленной</a:t>
            </a:r>
            <a:r>
              <a:rPr sz="1300" b="0" dirty="0">
                <a:solidFill>
                  <a:srgbClr val="5B626E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5B626E"/>
                </a:solidFill>
                <a:latin typeface="Arial"/>
              </a:rPr>
              <a:t>базой</a:t>
            </a:r>
            <a:r>
              <a:rPr sz="1300" b="0" dirty="0">
                <a:solidFill>
                  <a:srgbClr val="5B626E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5B626E"/>
                </a:solidFill>
                <a:latin typeface="Arial"/>
              </a:rPr>
              <a:t>материалов</a:t>
            </a:r>
            <a:endParaRPr sz="1300" b="0" dirty="0">
              <a:solidFill>
                <a:srgbClr val="5B626E"/>
              </a:solidFill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189720" y="1828800"/>
            <a:ext cx="2331720" cy="1325880"/>
          </a:xfrm>
          <a:prstGeom prst="roundRect">
            <a:avLst/>
          </a:prstGeom>
          <a:solidFill>
            <a:srgbClr val="FFFDF8"/>
          </a:solidFill>
          <a:ln>
            <a:solidFill>
              <a:srgbClr val="DAC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354312" y="1993392"/>
            <a:ext cx="411480" cy="393192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1993392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2937"/>
                </a:solidFill>
                <a:latin typeface="Arial"/>
              </a:rPr>
              <a:t>Отчёт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00032" y="2487168"/>
            <a:ext cx="219456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dirty="0" err="1">
                <a:solidFill>
                  <a:srgbClr val="5B626E"/>
                </a:solidFill>
                <a:latin typeface="Arial"/>
              </a:rPr>
              <a:t>процент</a:t>
            </a:r>
            <a:r>
              <a:rPr sz="1300" b="0" dirty="0">
                <a:solidFill>
                  <a:srgbClr val="5B626E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5B626E"/>
                </a:solidFill>
                <a:latin typeface="Arial"/>
              </a:rPr>
              <a:t>оригинальности</a:t>
            </a:r>
            <a:r>
              <a:rPr sz="1300" b="0" dirty="0">
                <a:solidFill>
                  <a:srgbClr val="5B626E"/>
                </a:solidFill>
                <a:latin typeface="Arial"/>
              </a:rPr>
              <a:t>, </a:t>
            </a:r>
            <a:r>
              <a:rPr sz="1300" b="0" dirty="0" err="1">
                <a:solidFill>
                  <a:srgbClr val="5B626E"/>
                </a:solidFill>
                <a:latin typeface="Arial"/>
              </a:rPr>
              <a:t>совпадения</a:t>
            </a:r>
            <a:r>
              <a:rPr sz="1300" b="0" dirty="0">
                <a:solidFill>
                  <a:srgbClr val="5B626E"/>
                </a:solidFill>
                <a:latin typeface="Arial"/>
              </a:rPr>
              <a:t> и </a:t>
            </a:r>
            <a:r>
              <a:rPr sz="1300" b="0" dirty="0" err="1">
                <a:solidFill>
                  <a:srgbClr val="5B626E"/>
                </a:solidFill>
                <a:latin typeface="Arial"/>
              </a:rPr>
              <a:t>подсветка</a:t>
            </a:r>
            <a:r>
              <a:rPr sz="1300" b="0" dirty="0">
                <a:solidFill>
                  <a:srgbClr val="5B626E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5B626E"/>
                </a:solidFill>
                <a:latin typeface="Arial"/>
              </a:rPr>
              <a:t>фрагментов</a:t>
            </a:r>
            <a:endParaRPr sz="1300" b="0" dirty="0">
              <a:solidFill>
                <a:srgbClr val="5B626E"/>
              </a:solidFill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097280" y="4160520"/>
            <a:ext cx="10012680" cy="914400"/>
          </a:xfrm>
          <a:prstGeom prst="roundRect">
            <a:avLst/>
          </a:prstGeom>
          <a:solidFill>
            <a:srgbClr val="E8F4F0"/>
          </a:solidFill>
          <a:ln>
            <a:solidFill>
              <a:srgbClr val="DAC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417320" y="4370832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0F766E"/>
                </a:solidFill>
                <a:latin typeface="Arial"/>
              </a:rPr>
              <a:t>Система поддерживает полный цикл: загрузка, сравнение, отчёт и накопление локального архива.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469880" y="-228600"/>
            <a:ext cx="1645920" cy="1645920"/>
          </a:xfrm>
          <a:prstGeom prst="ellipse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320040" y="5669280"/>
            <a:ext cx="1463040" cy="1463040"/>
          </a:xfrm>
          <a:prstGeom prst="ellipse">
            <a:avLst/>
          </a:prstGeom>
          <a:solidFill>
            <a:srgbClr val="F2E5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937"/>
                </a:solidFill>
                <a:latin typeface="Arial"/>
              </a:rPr>
              <a:t>Существующие решения и выбранный подход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1920240" cy="4572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40680" y="647395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B626E"/>
                </a:solidFill>
                <a:latin typeface="Arial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2286000" cy="502920"/>
          </a:xfrm>
          <a:prstGeom prst="roundRect">
            <a:avLst/>
          </a:prstGeom>
          <a:solidFill>
            <a:srgbClr val="0F766E"/>
          </a:solidFill>
          <a:ln>
            <a:solidFill>
              <a:srgbClr val="DAC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536192"/>
            <a:ext cx="206654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Критерий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417320"/>
            <a:ext cx="4251960" cy="502920"/>
          </a:xfrm>
          <a:prstGeom prst="roundRect">
            <a:avLst/>
          </a:prstGeom>
          <a:solidFill>
            <a:srgbClr val="0F766E"/>
          </a:solidFill>
          <a:ln>
            <a:solidFill>
              <a:srgbClr val="DAC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35808" y="1536192"/>
            <a:ext cx="40325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Облачный сервис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78040" y="1417320"/>
            <a:ext cx="4251960" cy="502920"/>
          </a:xfrm>
          <a:prstGeom prst="roundRect">
            <a:avLst/>
          </a:prstGeom>
          <a:solidFill>
            <a:srgbClr val="0F766E"/>
          </a:solidFill>
          <a:ln>
            <a:solidFill>
              <a:srgbClr val="DAC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87768" y="1536192"/>
            <a:ext cx="40325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Локальная система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1984248"/>
            <a:ext cx="2286000" cy="585216"/>
          </a:xfrm>
          <a:prstGeom prst="rect">
            <a:avLst/>
          </a:prstGeom>
          <a:solidFill>
            <a:srgbClr val="FFFDF8"/>
          </a:solidFill>
          <a:ln>
            <a:solidFill>
              <a:srgbClr val="DAC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2103120"/>
            <a:ext cx="20665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1F2937"/>
                </a:solidFill>
                <a:latin typeface="Arial"/>
              </a:rPr>
              <a:t>Данные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1984248"/>
            <a:ext cx="4251960" cy="585216"/>
          </a:xfrm>
          <a:prstGeom prst="rect">
            <a:avLst/>
          </a:prstGeom>
          <a:solidFill>
            <a:srgbClr val="FFFDF8"/>
          </a:solidFill>
          <a:ln>
            <a:solidFill>
              <a:srgbClr val="DAC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035808" y="2103120"/>
            <a:ext cx="4032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1F2937"/>
                </a:solidFill>
                <a:latin typeface="Arial"/>
              </a:rPr>
              <a:t>передаются внешнему провайдеру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78040" y="1984248"/>
            <a:ext cx="4251960" cy="585216"/>
          </a:xfrm>
          <a:prstGeom prst="rect">
            <a:avLst/>
          </a:prstGeom>
          <a:solidFill>
            <a:srgbClr val="E8F4F0"/>
          </a:solidFill>
          <a:ln>
            <a:solidFill>
              <a:srgbClr val="DAC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87768" y="2103120"/>
            <a:ext cx="4032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1F2937"/>
                </a:solidFill>
                <a:latin typeface="Arial"/>
              </a:rPr>
              <a:t>остаются в локальной базе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670048"/>
            <a:ext cx="2286000" cy="585216"/>
          </a:xfrm>
          <a:prstGeom prst="rect">
            <a:avLst/>
          </a:prstGeom>
          <a:solidFill>
            <a:srgbClr val="FFFDF8"/>
          </a:solidFill>
          <a:ln>
            <a:solidFill>
              <a:srgbClr val="DAC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9808" y="2788920"/>
            <a:ext cx="20665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1F2937"/>
                </a:solidFill>
                <a:latin typeface="Arial"/>
              </a:rPr>
              <a:t>Архив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0" y="2670048"/>
            <a:ext cx="4251960" cy="585216"/>
          </a:xfrm>
          <a:prstGeom prst="rect">
            <a:avLst/>
          </a:prstGeom>
          <a:solidFill>
            <a:srgbClr val="FFFDF8"/>
          </a:solidFill>
          <a:ln>
            <a:solidFill>
              <a:srgbClr val="DAC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035808" y="2788920"/>
            <a:ext cx="4032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1F2937"/>
                </a:solidFill>
                <a:latin typeface="Arial"/>
              </a:rPr>
              <a:t>зависит от сервиса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78040" y="2670048"/>
            <a:ext cx="4251960" cy="585216"/>
          </a:xfrm>
          <a:prstGeom prst="rect">
            <a:avLst/>
          </a:prstGeom>
          <a:solidFill>
            <a:srgbClr val="E8F4F0"/>
          </a:solidFill>
          <a:ln>
            <a:solidFill>
              <a:srgbClr val="DAC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87768" y="2788920"/>
            <a:ext cx="4032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1F2937"/>
                </a:solidFill>
                <a:latin typeface="Arial"/>
              </a:rPr>
              <a:t>формируется под учебный процесс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355848"/>
            <a:ext cx="2286000" cy="585216"/>
          </a:xfrm>
          <a:prstGeom prst="rect">
            <a:avLst/>
          </a:prstGeom>
          <a:solidFill>
            <a:srgbClr val="FFFDF8"/>
          </a:solidFill>
          <a:ln>
            <a:solidFill>
              <a:srgbClr val="DAC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9808" y="3474720"/>
            <a:ext cx="20665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1F2937"/>
                </a:solidFill>
                <a:latin typeface="Arial"/>
              </a:rPr>
              <a:t>Настройка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6080" y="3355848"/>
            <a:ext cx="4251960" cy="585216"/>
          </a:xfrm>
          <a:prstGeom prst="rect">
            <a:avLst/>
          </a:prstGeom>
          <a:solidFill>
            <a:srgbClr val="FFFDF8"/>
          </a:solidFill>
          <a:ln>
            <a:solidFill>
              <a:srgbClr val="DAC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035808" y="3474720"/>
            <a:ext cx="4032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1F2937"/>
                </a:solidFill>
                <a:latin typeface="Arial"/>
              </a:rPr>
              <a:t>ограничена правилами платформы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78040" y="3355848"/>
            <a:ext cx="4251960" cy="585216"/>
          </a:xfrm>
          <a:prstGeom prst="rect">
            <a:avLst/>
          </a:prstGeom>
          <a:solidFill>
            <a:srgbClr val="E8F4F0"/>
          </a:solidFill>
          <a:ln>
            <a:solidFill>
              <a:srgbClr val="DAC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287768" y="3474720"/>
            <a:ext cx="4032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1F2937"/>
                </a:solidFill>
                <a:latin typeface="Arial"/>
              </a:rPr>
              <a:t>можно задавать свои исключения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041648"/>
            <a:ext cx="2286000" cy="585216"/>
          </a:xfrm>
          <a:prstGeom prst="rect">
            <a:avLst/>
          </a:prstGeom>
          <a:solidFill>
            <a:srgbClr val="FFFDF8"/>
          </a:solidFill>
          <a:ln>
            <a:solidFill>
              <a:srgbClr val="DAC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9808" y="4160520"/>
            <a:ext cx="20665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1F2937"/>
                </a:solidFill>
                <a:latin typeface="Arial"/>
              </a:rPr>
              <a:t>Внедрение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0" y="4041648"/>
            <a:ext cx="4251960" cy="585216"/>
          </a:xfrm>
          <a:prstGeom prst="rect">
            <a:avLst/>
          </a:prstGeom>
          <a:solidFill>
            <a:srgbClr val="FFFDF8"/>
          </a:solidFill>
          <a:ln>
            <a:solidFill>
              <a:srgbClr val="DAC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035808" y="4160520"/>
            <a:ext cx="4032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1F2937"/>
                </a:solidFill>
                <a:latin typeface="Arial"/>
              </a:rPr>
              <a:t>быстрое, но зависит от лицензии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78040" y="4041648"/>
            <a:ext cx="4251960" cy="585216"/>
          </a:xfrm>
          <a:prstGeom prst="rect">
            <a:avLst/>
          </a:prstGeom>
          <a:solidFill>
            <a:srgbClr val="E8F4F0"/>
          </a:solidFill>
          <a:ln>
            <a:solidFill>
              <a:srgbClr val="DAC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287768" y="4160520"/>
            <a:ext cx="4032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1F2937"/>
                </a:solidFill>
                <a:latin typeface="Arial"/>
              </a:rPr>
              <a:t>требует разработки, зато гибче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469880" y="-228600"/>
            <a:ext cx="1645920" cy="1645920"/>
          </a:xfrm>
          <a:prstGeom prst="ellipse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320040" y="5669280"/>
            <a:ext cx="1463040" cy="1463040"/>
          </a:xfrm>
          <a:prstGeom prst="ellipse">
            <a:avLst/>
          </a:prstGeom>
          <a:solidFill>
            <a:srgbClr val="F2E5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937"/>
                </a:solidFill>
                <a:latin typeface="Arial"/>
              </a:rPr>
              <a:t>Пользовательский доступ через Swagger UI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1920240" cy="4572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40680" y="647395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B626E"/>
                </a:solidFill>
                <a:latin typeface="Arial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3977639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Arial"/>
              </a:rPr>
              <a:t>• все основные действия доступны из браузера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Arial"/>
              </a:rPr>
              <a:t>• методы сгруппированы по смыслу: пользователи, документы, архив, правила и проверки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Arial"/>
              </a:rPr>
              <a:t>• для каждого действия видны параметры запроса и формат ответа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Arial"/>
              </a:rPr>
              <a:t>• Swagger одновременно служит документацией и средством демонстрации API</a:t>
            </a:r>
          </a:p>
        </p:txBody>
      </p:sp>
      <p:pic>
        <p:nvPicPr>
          <p:cNvPr id="8" name="Picture 7" descr="swagger.png"/>
          <p:cNvPicPr>
            <a:picLocks noChangeAspect="1"/>
          </p:cNvPicPr>
          <p:nvPr/>
        </p:nvPicPr>
        <p:blipFill>
          <a:blip r:embed="rId2"/>
          <a:srcRect l="5000" r="4000" b="32000"/>
          <a:stretch>
            <a:fillRect/>
          </a:stretch>
        </p:blipFill>
        <p:spPr>
          <a:xfrm>
            <a:off x="4800600" y="1234440"/>
            <a:ext cx="6903720" cy="527367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" y="4709160"/>
            <a:ext cx="10789920" cy="731520"/>
          </a:xfrm>
          <a:prstGeom prst="roundRect">
            <a:avLst/>
          </a:prstGeom>
          <a:solidFill>
            <a:srgbClr val="E8F4F0"/>
          </a:solidFill>
          <a:ln>
            <a:solidFill>
              <a:srgbClr val="DAC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491032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F766E"/>
                </a:solidFill>
                <a:latin typeface="Arial"/>
              </a:rPr>
              <a:t>Пользователь работает через браузер: создаёт материалы, запускает проверку и получает объяснимый результат.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469880" y="-228600"/>
            <a:ext cx="1645920" cy="1645920"/>
          </a:xfrm>
          <a:prstGeom prst="ellipse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320040" y="5669280"/>
            <a:ext cx="1463040" cy="1463040"/>
          </a:xfrm>
          <a:prstGeom prst="ellipse">
            <a:avLst/>
          </a:prstGeom>
          <a:solidFill>
            <a:srgbClr val="F2E5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937"/>
                </a:solidFill>
                <a:latin typeface="Arial"/>
              </a:rPr>
              <a:t>Как работает программа в целом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1920240" cy="4572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40680" y="647395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B626E"/>
                </a:solidFill>
                <a:latin typeface="Arial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57400"/>
            <a:ext cx="1874519" cy="1417320"/>
          </a:xfrm>
          <a:prstGeom prst="roundRect">
            <a:avLst/>
          </a:prstGeom>
          <a:solidFill>
            <a:srgbClr val="FFFDF8"/>
          </a:solidFill>
          <a:ln>
            <a:solidFill>
              <a:srgbClr val="DAC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298448" y="1847088"/>
            <a:ext cx="594360" cy="393192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4688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>
                <a:solidFill>
                  <a:srgbClr val="1F2937"/>
                </a:solidFill>
                <a:latin typeface="Arial"/>
              </a:rPr>
              <a:t>Документ добавляется в систему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32887" y="2770632"/>
            <a:ext cx="347473" cy="0"/>
          </a:xfrm>
          <a:prstGeom prst="line">
            <a:avLst/>
          </a:prstGeom>
          <a:ln w="254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26080" y="2057400"/>
            <a:ext cx="1874519" cy="1417320"/>
          </a:xfrm>
          <a:prstGeom prst="roundRect">
            <a:avLst/>
          </a:prstGeom>
          <a:solidFill>
            <a:srgbClr val="FFFDF8"/>
          </a:solidFill>
          <a:ln>
            <a:solidFill>
              <a:srgbClr val="DAC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566160" y="1847088"/>
            <a:ext cx="594360" cy="393192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0672" y="24688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dirty="0" err="1">
                <a:solidFill>
                  <a:srgbClr val="1F2937"/>
                </a:solidFill>
                <a:latin typeface="Arial"/>
              </a:rPr>
              <a:t>Текст</a:t>
            </a:r>
            <a:r>
              <a:rPr sz="1450" b="1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1F2937"/>
                </a:solidFill>
                <a:latin typeface="Arial"/>
              </a:rPr>
              <a:t>очищается</a:t>
            </a:r>
            <a:r>
              <a:rPr sz="1450" b="1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1F2937"/>
                </a:solidFill>
                <a:latin typeface="Arial"/>
              </a:rPr>
              <a:t>от</a:t>
            </a:r>
            <a:r>
              <a:rPr sz="1450" b="1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1F2937"/>
                </a:solidFill>
                <a:latin typeface="Arial"/>
              </a:rPr>
              <a:t>служебных</a:t>
            </a:r>
            <a:r>
              <a:rPr sz="1450" b="1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1F2937"/>
                </a:solidFill>
                <a:latin typeface="Arial"/>
              </a:rPr>
              <a:t>фрагментов</a:t>
            </a:r>
            <a:endParaRPr sz="1450" b="1" dirty="0">
              <a:solidFill>
                <a:srgbClr val="1F2937"/>
              </a:solidFill>
              <a:latin typeface="Arial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4800600" y="2770632"/>
            <a:ext cx="347472" cy="0"/>
          </a:xfrm>
          <a:prstGeom prst="line">
            <a:avLst/>
          </a:prstGeom>
          <a:ln w="254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93792" y="2057400"/>
            <a:ext cx="1874519" cy="1417320"/>
          </a:xfrm>
          <a:prstGeom prst="roundRect">
            <a:avLst/>
          </a:prstGeom>
          <a:solidFill>
            <a:srgbClr val="FFFDF8"/>
          </a:solidFill>
          <a:ln>
            <a:solidFill>
              <a:srgbClr val="DAC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833872" y="1847088"/>
            <a:ext cx="594360" cy="393192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58383" y="24688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dirty="0" err="1">
                <a:solidFill>
                  <a:srgbClr val="1F2937"/>
                </a:solidFill>
                <a:latin typeface="Arial"/>
              </a:rPr>
              <a:t>Текст</a:t>
            </a:r>
            <a:r>
              <a:rPr sz="1450" b="1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1F2937"/>
                </a:solidFill>
                <a:latin typeface="Arial"/>
              </a:rPr>
              <a:t>разбивается</a:t>
            </a:r>
            <a:r>
              <a:rPr sz="1450" b="1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1F2937"/>
                </a:solidFill>
                <a:latin typeface="Arial"/>
              </a:rPr>
              <a:t>на</a:t>
            </a:r>
            <a:r>
              <a:rPr sz="1450" b="1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1F2937"/>
                </a:solidFill>
                <a:latin typeface="Arial"/>
              </a:rPr>
              <a:t>триграммы</a:t>
            </a:r>
            <a:endParaRPr sz="1450" b="1" dirty="0">
              <a:solidFill>
                <a:srgbClr val="1F2937"/>
              </a:solidFill>
              <a:latin typeface="Arial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7068312" y="2770632"/>
            <a:ext cx="347471" cy="0"/>
          </a:xfrm>
          <a:prstGeom prst="line">
            <a:avLst/>
          </a:prstGeom>
          <a:ln w="254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61504" y="2057400"/>
            <a:ext cx="1874519" cy="1417320"/>
          </a:xfrm>
          <a:prstGeom prst="roundRect">
            <a:avLst/>
          </a:prstGeom>
          <a:solidFill>
            <a:srgbClr val="FFFDF8"/>
          </a:solidFill>
          <a:ln>
            <a:solidFill>
              <a:srgbClr val="DAC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101583" y="1847088"/>
            <a:ext cx="594360" cy="393192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6096" y="24688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dirty="0" err="1">
                <a:solidFill>
                  <a:srgbClr val="1F2937"/>
                </a:solidFill>
                <a:latin typeface="Arial"/>
              </a:rPr>
              <a:t>Хеши</a:t>
            </a:r>
            <a:r>
              <a:rPr sz="1450" b="1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1F2937"/>
                </a:solidFill>
                <a:latin typeface="Arial"/>
              </a:rPr>
              <a:t>триграмм</a:t>
            </a:r>
            <a:r>
              <a:rPr sz="1450" b="1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1F2937"/>
                </a:solidFill>
                <a:latin typeface="Arial"/>
              </a:rPr>
              <a:t>сравниваются</a:t>
            </a:r>
            <a:r>
              <a:rPr sz="1450" b="1" dirty="0">
                <a:solidFill>
                  <a:srgbClr val="1F2937"/>
                </a:solidFill>
                <a:latin typeface="Arial"/>
              </a:rPr>
              <a:t> с </a:t>
            </a:r>
            <a:r>
              <a:rPr sz="1450" b="1" dirty="0" err="1">
                <a:solidFill>
                  <a:srgbClr val="1F2937"/>
                </a:solidFill>
                <a:latin typeface="Arial"/>
              </a:rPr>
              <a:t>архивом</a:t>
            </a:r>
            <a:endParaRPr sz="1450" b="1" dirty="0">
              <a:solidFill>
                <a:srgbClr val="1F2937"/>
              </a:solidFill>
              <a:latin typeface="Arial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9336024" y="2770632"/>
            <a:ext cx="347472" cy="0"/>
          </a:xfrm>
          <a:prstGeom prst="line">
            <a:avLst/>
          </a:prstGeom>
          <a:ln w="254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729216" y="2057400"/>
            <a:ext cx="1874519" cy="1417320"/>
          </a:xfrm>
          <a:prstGeom prst="roundRect">
            <a:avLst/>
          </a:prstGeom>
          <a:solidFill>
            <a:srgbClr val="FFFDF8"/>
          </a:solidFill>
          <a:ln>
            <a:solidFill>
              <a:srgbClr val="DAC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369296" y="1847088"/>
            <a:ext cx="594360" cy="393192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93808" y="24688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dirty="0" err="1">
                <a:solidFill>
                  <a:srgbClr val="1F2937"/>
                </a:solidFill>
                <a:latin typeface="Arial"/>
              </a:rPr>
              <a:t>Формируется</a:t>
            </a:r>
            <a:r>
              <a:rPr sz="1450" b="1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1F2937"/>
                </a:solidFill>
                <a:latin typeface="Arial"/>
              </a:rPr>
              <a:t>процент</a:t>
            </a:r>
            <a:r>
              <a:rPr sz="1450" b="1" dirty="0">
                <a:solidFill>
                  <a:srgbClr val="1F2937"/>
                </a:solidFill>
                <a:latin typeface="Arial"/>
              </a:rPr>
              <a:t> и </a:t>
            </a:r>
            <a:r>
              <a:rPr sz="1450" b="1" dirty="0" err="1">
                <a:solidFill>
                  <a:srgbClr val="1F2937"/>
                </a:solidFill>
                <a:latin typeface="Arial"/>
              </a:rPr>
              <a:t>подсветка</a:t>
            </a:r>
            <a:r>
              <a:rPr sz="1450" b="1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1F2937"/>
                </a:solidFill>
                <a:latin typeface="Arial"/>
              </a:rPr>
              <a:t>совпадений</a:t>
            </a:r>
            <a:endParaRPr sz="1450" b="1" dirty="0">
              <a:solidFill>
                <a:srgbClr val="1F2937"/>
              </a:solidFill>
              <a:latin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05840" y="4617720"/>
            <a:ext cx="10195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B45309"/>
                </a:solidFill>
                <a:latin typeface="Arial"/>
              </a:rPr>
              <a:t>На выходе пользователь получает не только число, а список источников и выделенные фрагменты текста.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9184"/>
            <a:ext cx="896112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Arial"/>
              </a:rPr>
              <a:t>База данных и структура хранения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320040"/>
            <a:ext cx="54864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900" b="1">
                <a:solidFill>
                  <a:srgbClr val="5B6978"/>
                </a:solidFill>
                <a:latin typeface="Arial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9875520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20">
                <a:solidFill>
                  <a:srgbClr val="5B6978"/>
                </a:solidFill>
                <a:latin typeface="Arial"/>
              </a:rPr>
              <a:t>PostgreSQL хранит документы, индексы и результаты проверок — дальше индексы используются для быстрого сравнения.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188720"/>
            <a:ext cx="10195560" cy="493776"/>
          </a:xfrm>
          <a:prstGeom prst="roundRect">
            <a:avLst/>
          </a:prstGeom>
          <a:solidFill>
            <a:srgbClr val="F6F9FA"/>
          </a:solidFill>
          <a:ln w="10160">
            <a:solidFill>
              <a:srgbClr val="E0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77800" rIns="177800" rtlCol="0" anchor="ctr"/>
          <a:lstStyle/>
          <a:p>
            <a:pPr algn="ctr"/>
            <a:r>
              <a:rPr sz="1230" b="0">
                <a:solidFill>
                  <a:srgbClr val="1F2937"/>
                </a:solidFill>
                <a:latin typeface="Arial"/>
              </a:rPr>
              <a:t>Схема управляется миграциями Alembic: БД можно воспроизводимо развернуть и привести к актуальной версии при запуске приложения.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679192" y="0"/>
            <a:ext cx="658368" cy="0"/>
          </a:xfrm>
          <a:prstGeom prst="line">
            <a:avLst/>
          </a:prstGeom>
          <a:ln w="19050">
            <a:solidFill>
              <a:srgbClr val="318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330952" y="0"/>
            <a:ext cx="658368" cy="0"/>
          </a:xfrm>
          <a:prstGeom prst="line">
            <a:avLst/>
          </a:prstGeom>
          <a:ln w="19050">
            <a:solidFill>
              <a:srgbClr val="318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2560320"/>
            <a:ext cx="0" cy="566928"/>
          </a:xfrm>
          <a:prstGeom prst="line">
            <a:avLst/>
          </a:prstGeom>
          <a:ln w="19050">
            <a:solidFill>
              <a:srgbClr val="318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2560320"/>
            <a:ext cx="0" cy="566928"/>
          </a:xfrm>
          <a:prstGeom prst="line">
            <a:avLst/>
          </a:prstGeom>
          <a:ln w="19050">
            <a:solidFill>
              <a:srgbClr val="318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30952" y="0"/>
            <a:ext cx="658368" cy="0"/>
          </a:xfrm>
          <a:prstGeom prst="line">
            <a:avLst/>
          </a:prstGeom>
          <a:ln w="19050">
            <a:solidFill>
              <a:srgbClr val="318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85800" y="1938528"/>
            <a:ext cx="1993392" cy="621792"/>
          </a:xfrm>
          <a:prstGeom prst="roundRect">
            <a:avLst/>
          </a:prstGeom>
          <a:solidFill>
            <a:srgbClr val="EBF6F9"/>
          </a:solidFill>
          <a:ln w="12700">
            <a:solidFill>
              <a:srgbClr val="BE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63500" rIns="101600" bIns="63500" rtlCol="0" anchor="ctr"/>
          <a:lstStyle/>
          <a:p>
            <a:pPr algn="l"/>
            <a:r>
              <a:rPr sz="1240" b="1">
                <a:solidFill>
                  <a:srgbClr val="205C6B"/>
                </a:solidFill>
                <a:latin typeface="Arial"/>
              </a:rPr>
              <a:t>users</a:t>
            </a:r>
          </a:p>
          <a:p>
            <a:pPr algn="l">
              <a:spcBef>
                <a:spcPts val="200"/>
              </a:spcBef>
            </a:pPr>
            <a:r>
              <a:rPr sz="919" b="0">
                <a:solidFill>
                  <a:srgbClr val="1F2937"/>
                </a:solidFill>
                <a:latin typeface="Arial"/>
              </a:rPr>
              <a:t>владельцы документов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938528"/>
            <a:ext cx="1993392" cy="621792"/>
          </a:xfrm>
          <a:prstGeom prst="roundRect">
            <a:avLst/>
          </a:prstGeom>
          <a:solidFill>
            <a:srgbClr val="EBF6F9"/>
          </a:solidFill>
          <a:ln w="12700">
            <a:solidFill>
              <a:srgbClr val="BE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63500" rIns="101600" bIns="63500" rtlCol="0" anchor="ctr"/>
          <a:lstStyle/>
          <a:p>
            <a:pPr algn="l"/>
            <a:r>
              <a:rPr sz="1240" b="1">
                <a:solidFill>
                  <a:srgbClr val="205C6B"/>
                </a:solidFill>
                <a:latin typeface="Arial"/>
              </a:rPr>
              <a:t>documents</a:t>
            </a:r>
          </a:p>
          <a:p>
            <a:pPr algn="l">
              <a:spcBef>
                <a:spcPts val="200"/>
              </a:spcBef>
            </a:pPr>
            <a:r>
              <a:rPr sz="919" b="0">
                <a:solidFill>
                  <a:srgbClr val="1F2937"/>
                </a:solidFill>
                <a:latin typeface="Arial"/>
              </a:rPr>
              <a:t>исходный текст и тип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938528"/>
            <a:ext cx="1993392" cy="621792"/>
          </a:xfrm>
          <a:prstGeom prst="roundRect">
            <a:avLst/>
          </a:prstGeom>
          <a:solidFill>
            <a:srgbClr val="EBF6F9"/>
          </a:solidFill>
          <a:ln w="12700">
            <a:solidFill>
              <a:srgbClr val="BE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63500" rIns="101600" bIns="63500" rtlCol="0" anchor="ctr"/>
          <a:lstStyle/>
          <a:p>
            <a:pPr algn="l"/>
            <a:r>
              <a:rPr sz="1240" b="1">
                <a:solidFill>
                  <a:srgbClr val="205C6B"/>
                </a:solidFill>
                <a:latin typeface="Arial"/>
              </a:rPr>
              <a:t>document_indexes</a:t>
            </a:r>
          </a:p>
          <a:p>
            <a:pPr algn="l">
              <a:spcBef>
                <a:spcPts val="200"/>
              </a:spcBef>
            </a:pPr>
            <a:r>
              <a:rPr sz="919" b="0">
                <a:solidFill>
                  <a:srgbClr val="1F2937"/>
                </a:solidFill>
                <a:latin typeface="Arial"/>
              </a:rPr>
              <a:t>SHA‑1-хеши триграмм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127248"/>
            <a:ext cx="1993392" cy="621792"/>
          </a:xfrm>
          <a:prstGeom prst="roundRect">
            <a:avLst/>
          </a:prstGeom>
          <a:solidFill>
            <a:srgbClr val="EBF6F9"/>
          </a:solidFill>
          <a:ln w="12700">
            <a:solidFill>
              <a:srgbClr val="BE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63500" rIns="101600" bIns="63500" rtlCol="0" anchor="ctr"/>
          <a:lstStyle/>
          <a:p>
            <a:pPr algn="l"/>
            <a:r>
              <a:rPr sz="1240" b="1">
                <a:solidFill>
                  <a:srgbClr val="205C6B"/>
                </a:solidFill>
                <a:latin typeface="Arial"/>
              </a:rPr>
              <a:t>exclusion_rules</a:t>
            </a:r>
          </a:p>
          <a:p>
            <a:pPr algn="l">
              <a:spcBef>
                <a:spcPts val="200"/>
              </a:spcBef>
            </a:pPr>
            <a:r>
              <a:rPr sz="919" b="0">
                <a:solidFill>
                  <a:srgbClr val="1F2937"/>
                </a:solidFill>
                <a:latin typeface="Arial"/>
              </a:rPr>
              <a:t>regex-исключения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3127248"/>
            <a:ext cx="1993392" cy="621792"/>
          </a:xfrm>
          <a:prstGeom prst="roundRect">
            <a:avLst/>
          </a:prstGeom>
          <a:solidFill>
            <a:srgbClr val="EBF6F9"/>
          </a:solidFill>
          <a:ln w="12700">
            <a:solidFill>
              <a:srgbClr val="BE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63500" rIns="101600" bIns="63500" rtlCol="0" anchor="ctr"/>
          <a:lstStyle/>
          <a:p>
            <a:pPr algn="l"/>
            <a:r>
              <a:rPr sz="1240" b="1">
                <a:solidFill>
                  <a:srgbClr val="205C6B"/>
                </a:solidFill>
                <a:latin typeface="Arial"/>
              </a:rPr>
              <a:t>checks</a:t>
            </a:r>
          </a:p>
          <a:p>
            <a:pPr algn="l">
              <a:spcBef>
                <a:spcPts val="200"/>
              </a:spcBef>
            </a:pPr>
            <a:r>
              <a:rPr sz="919" b="0">
                <a:solidFill>
                  <a:srgbClr val="1F2937"/>
                </a:solidFill>
                <a:latin typeface="Arial"/>
              </a:rPr>
              <a:t>процент и отчёт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3127248"/>
            <a:ext cx="1993392" cy="621792"/>
          </a:xfrm>
          <a:prstGeom prst="roundRect">
            <a:avLst/>
          </a:prstGeom>
          <a:solidFill>
            <a:srgbClr val="EBF6F9"/>
          </a:solidFill>
          <a:ln w="12700">
            <a:solidFill>
              <a:srgbClr val="BE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63500" rIns="101600" bIns="63500" rtlCol="0" anchor="ctr"/>
          <a:lstStyle/>
          <a:p>
            <a:pPr algn="l"/>
            <a:r>
              <a:rPr sz="1240" b="1">
                <a:solidFill>
                  <a:srgbClr val="205C6B"/>
                </a:solidFill>
                <a:latin typeface="Arial"/>
              </a:rPr>
              <a:t>check_matches</a:t>
            </a:r>
          </a:p>
          <a:p>
            <a:pPr algn="l">
              <a:spcBef>
                <a:spcPts val="200"/>
              </a:spcBef>
            </a:pPr>
            <a:r>
              <a:rPr sz="919" b="0">
                <a:solidFill>
                  <a:srgbClr val="1F2937"/>
                </a:solidFill>
                <a:latin typeface="Arial"/>
              </a:rPr>
              <a:t>найденные совпадения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1901952"/>
            <a:ext cx="2651760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Arial"/>
              </a:rPr>
              <a:t>Что хранится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258568"/>
            <a:ext cx="2697480" cy="2487168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1F2937"/>
                </a:solidFill>
                <a:latin typeface="Arial"/>
              </a:rPr>
              <a:t>• documents: текст, тип документа и признак уникальности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1F2937"/>
                </a:solidFill>
                <a:latin typeface="Arial"/>
              </a:rPr>
              <a:t>• document_indexes: массив SHA‑1-хешей триграмм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1F2937"/>
                </a:solidFill>
                <a:latin typeface="Arial"/>
              </a:rPr>
              <a:t>• checks: общий результат проверки и обработанный текст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1F2937"/>
                </a:solidFill>
                <a:latin typeface="Arial"/>
              </a:rPr>
              <a:t>• check_matches: источник и найденный фрагмент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1F2937"/>
                </a:solidFill>
                <a:latin typeface="Arial"/>
              </a:rPr>
              <a:t>• exclusion_rules: шаблоны, исключаемые перед проверкой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" y="5212080"/>
            <a:ext cx="10195560" cy="640080"/>
          </a:xfrm>
          <a:prstGeom prst="roundRect">
            <a:avLst/>
          </a:prstGeom>
          <a:solidFill>
            <a:srgbClr val="318699"/>
          </a:solidFill>
          <a:ln>
            <a:solidFill>
              <a:srgbClr val="318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3200" rIns="2032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Главная идея: полный текст хранится отдельно, а рядом сохраняется подготовленный индекс — поэтому архив можно использовать повторно без повторной обработки каждого источника.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9184"/>
            <a:ext cx="896112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Arial"/>
              </a:rPr>
              <a:t>Правила исключений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320040"/>
            <a:ext cx="54864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900" b="1">
                <a:solidFill>
                  <a:srgbClr val="5B6978"/>
                </a:solidFill>
                <a:latin typeface="Arial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058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40" b="0">
                <a:solidFill>
                  <a:srgbClr val="5B6978"/>
                </a:solidFill>
                <a:latin typeface="Arial"/>
              </a:rPr>
              <a:t>Исключения убирают служебные части текста до построения триграмм, чтобы они не влияли на процент оригинальности.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43200" y="0"/>
            <a:ext cx="502920" cy="0"/>
          </a:xfrm>
          <a:prstGeom prst="line">
            <a:avLst/>
          </a:prstGeom>
          <a:ln w="22860">
            <a:solidFill>
              <a:srgbClr val="318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303520" y="0"/>
            <a:ext cx="502920" cy="0"/>
          </a:xfrm>
          <a:prstGeom prst="line">
            <a:avLst/>
          </a:prstGeom>
          <a:ln w="22860">
            <a:solidFill>
              <a:srgbClr val="318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863840" y="0"/>
            <a:ext cx="502920" cy="0"/>
          </a:xfrm>
          <a:prstGeom prst="line">
            <a:avLst/>
          </a:prstGeom>
          <a:ln w="22860">
            <a:solidFill>
              <a:srgbClr val="318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85800" y="1508760"/>
            <a:ext cx="2057400" cy="804672"/>
          </a:xfrm>
          <a:prstGeom prst="roundRect">
            <a:avLst/>
          </a:prstGeom>
          <a:solidFill>
            <a:srgbClr val="F6F8F9"/>
          </a:solidFill>
          <a:ln w="12700">
            <a:solidFill>
              <a:srgbClr val="C9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88900" rIns="101600" bIns="63500" rtlCol="0" anchor="ctr"/>
          <a:lstStyle/>
          <a:p>
            <a:pPr algn="l"/>
            <a:r>
              <a:rPr sz="1350" b="1">
                <a:solidFill>
                  <a:srgbClr val="205C6B"/>
                </a:solidFill>
                <a:latin typeface="Arial"/>
              </a:rPr>
              <a:t>1. Исходный текст</a:t>
            </a:r>
          </a:p>
          <a:p>
            <a:pPr>
              <a:spcBef>
                <a:spcPts val="200"/>
              </a:spcBef>
            </a:pPr>
            <a:r>
              <a:rPr sz="1019">
                <a:solidFill>
                  <a:srgbClr val="1F2937"/>
                </a:solidFill>
                <a:latin typeface="Arial"/>
              </a:rPr>
              <a:t>работа содержит основной текст и служебные блоки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508760"/>
            <a:ext cx="2057400" cy="804672"/>
          </a:xfrm>
          <a:prstGeom prst="roundRect">
            <a:avLst/>
          </a:prstGeom>
          <a:solidFill>
            <a:srgbClr val="FAF5ED"/>
          </a:solidFill>
          <a:ln w="12700">
            <a:solidFill>
              <a:srgbClr val="E3CD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88900" rIns="101600" bIns="63500" rtlCol="0" anchor="ctr"/>
          <a:lstStyle/>
          <a:p>
            <a:pPr algn="l"/>
            <a:r>
              <a:rPr sz="1350" b="1">
                <a:solidFill>
                  <a:srgbClr val="BE823F"/>
                </a:solidFill>
                <a:latin typeface="Arial"/>
              </a:rPr>
              <a:t>2. Regex-правила</a:t>
            </a:r>
          </a:p>
          <a:p>
            <a:pPr>
              <a:spcBef>
                <a:spcPts val="200"/>
              </a:spcBef>
            </a:pPr>
            <a:r>
              <a:rPr sz="1019">
                <a:solidFill>
                  <a:srgbClr val="1F2937"/>
                </a:solidFill>
                <a:latin typeface="Arial"/>
              </a:rPr>
              <a:t>например, убрать список литературы или шаблонные фразы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1508760"/>
            <a:ext cx="2057400" cy="804672"/>
          </a:xfrm>
          <a:prstGeom prst="roundRect">
            <a:avLst/>
          </a:prstGeom>
          <a:solidFill>
            <a:srgbClr val="ECF5F8"/>
          </a:solidFill>
          <a:ln w="12700">
            <a:solidFill>
              <a:srgbClr val="C9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88900" rIns="101600" bIns="63500" rtlCol="0" anchor="ctr"/>
          <a:lstStyle/>
          <a:p>
            <a:pPr algn="l"/>
            <a:r>
              <a:rPr sz="1350" b="1">
                <a:solidFill>
                  <a:srgbClr val="205C6B"/>
                </a:solidFill>
                <a:latin typeface="Arial"/>
              </a:rPr>
              <a:t>3. Очищенный текст</a:t>
            </a:r>
          </a:p>
          <a:p>
            <a:pPr>
              <a:spcBef>
                <a:spcPts val="200"/>
              </a:spcBef>
            </a:pPr>
            <a:r>
              <a:rPr sz="1019">
                <a:solidFill>
                  <a:srgbClr val="1F2937"/>
                </a:solidFill>
                <a:latin typeface="Arial"/>
              </a:rPr>
              <a:t>в проверку попадает только значимая часть документа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1508760"/>
            <a:ext cx="2057400" cy="804672"/>
          </a:xfrm>
          <a:prstGeom prst="roundRect">
            <a:avLst/>
          </a:prstGeom>
          <a:solidFill>
            <a:srgbClr val="EFF8F3"/>
          </a:solidFill>
          <a:ln w="12700">
            <a:solidFill>
              <a:srgbClr val="C4D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88900" rIns="101600" bIns="63500" rtlCol="0" anchor="ctr"/>
          <a:lstStyle/>
          <a:p>
            <a:pPr algn="l"/>
            <a:r>
              <a:rPr sz="1350" b="1">
                <a:solidFill>
                  <a:srgbClr val="528F71"/>
                </a:solidFill>
                <a:latin typeface="Arial"/>
              </a:rPr>
              <a:t>4. Триграммы и хеши</a:t>
            </a:r>
          </a:p>
          <a:p>
            <a:pPr>
              <a:spcBef>
                <a:spcPts val="200"/>
              </a:spcBef>
            </a:pPr>
            <a:r>
              <a:rPr sz="1019">
                <a:solidFill>
                  <a:srgbClr val="1F2937"/>
                </a:solidFill>
                <a:latin typeface="Arial"/>
              </a:rPr>
              <a:t>индекс строится уже без исключённых фрагментов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88920"/>
            <a:ext cx="438912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Arial"/>
              </a:rPr>
              <a:t>Что можно исключать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182112"/>
            <a:ext cx="4297680" cy="1417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spcAft>
                <a:spcPts val="500"/>
              </a:spcAft>
            </a:pPr>
            <a:r>
              <a:rPr sz="1220">
                <a:solidFill>
                  <a:srgbClr val="1F2937"/>
                </a:solidFill>
                <a:latin typeface="Arial"/>
              </a:rPr>
              <a:t>• титульный лист и реквизиты работы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1F2937"/>
                </a:solidFill>
                <a:latin typeface="Arial"/>
              </a:rPr>
              <a:t>• список литературы и приложения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1F2937"/>
                </a:solidFill>
                <a:latin typeface="Arial"/>
              </a:rPr>
              <a:t>• типовые учебные формулировки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1F2937"/>
                </a:solidFill>
                <a:latin typeface="Arial"/>
              </a:rPr>
              <a:t>• служебные подписи и повторяющиеся шаблоны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788920"/>
            <a:ext cx="438912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Arial"/>
              </a:rPr>
              <a:t>Как это работает в программе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50992" y="3182112"/>
            <a:ext cx="4663440" cy="1417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spcAft>
                <a:spcPts val="500"/>
              </a:spcAft>
            </a:pPr>
            <a:r>
              <a:rPr sz="1220">
                <a:solidFill>
                  <a:srgbClr val="1F2937"/>
                </a:solidFill>
                <a:latin typeface="Arial"/>
              </a:rPr>
              <a:t>• правила хранятся в таблице ExclusionRule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1F2937"/>
                </a:solidFill>
                <a:latin typeface="Arial"/>
              </a:rPr>
              <a:t>• при запуске проверки можно включить use_exclusion_rules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1F2937"/>
                </a:solidFill>
                <a:latin typeface="Arial"/>
              </a:rPr>
              <a:t>• regex удаляет совпавшие служебные фрагменты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1F2937"/>
                </a:solidFill>
                <a:latin typeface="Arial"/>
              </a:rPr>
              <a:t>• после очистки строятся триграммы и SHA‑1-хеши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892040"/>
            <a:ext cx="10012680" cy="603504"/>
          </a:xfrm>
          <a:prstGeom prst="roundRect">
            <a:avLst/>
          </a:prstGeom>
          <a:solidFill>
            <a:srgbClr val="318699"/>
          </a:solidFill>
          <a:ln>
            <a:solidFill>
              <a:srgbClr val="318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90500" rIns="1524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Зачем это нужно: одинаковые служебные блоки не должны считаться плагиатом и снижать оригинальность основной части работы.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469880" y="-228600"/>
            <a:ext cx="1645920" cy="1645920"/>
          </a:xfrm>
          <a:prstGeom prst="ellipse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320040" y="5669280"/>
            <a:ext cx="1463040" cy="1463040"/>
          </a:xfrm>
          <a:prstGeom prst="ellipse">
            <a:avLst/>
          </a:prstGeom>
          <a:solidFill>
            <a:srgbClr val="F2E5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937"/>
                </a:solidFill>
                <a:latin typeface="Arial"/>
              </a:rPr>
              <a:t>Почему индексы ускоряют проверку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1920240" cy="4572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40680" y="647395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B626E"/>
                </a:solidFill>
                <a:latin typeface="Arial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074920" cy="2743200"/>
          </a:xfrm>
          <a:prstGeom prst="roundRect">
            <a:avLst/>
          </a:prstGeom>
          <a:solidFill>
            <a:srgbClr val="FFFAF1"/>
          </a:solidFill>
          <a:ln>
            <a:solidFill>
              <a:srgbClr val="E8D1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6916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B45309"/>
                </a:solidFill>
                <a:latin typeface="Arial"/>
              </a:rPr>
              <a:t>Подготовка источника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24028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50">
                <a:solidFill>
                  <a:srgbClr val="1F2937"/>
                </a:solidFill>
                <a:latin typeface="Arial"/>
              </a:rPr>
              <a:t>• Без индекса: каждый источник нужно заново читать, разбивать на слова и подготавливать к сравнению.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F2937"/>
                </a:solidFill>
                <a:latin typeface="Arial"/>
              </a:rPr>
              <a:t>• С индексом: источник уже представлен готовым набором хешей.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417320"/>
            <a:ext cx="4846320" cy="2743200"/>
          </a:xfrm>
          <a:prstGeom prst="roundRect">
            <a:avLst/>
          </a:prstGeom>
          <a:solidFill>
            <a:srgbClr val="E8F4F0"/>
          </a:solidFill>
          <a:ln>
            <a:solidFill>
              <a:srgbClr val="DAC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20840" y="1691640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F766E"/>
                </a:solidFill>
                <a:latin typeface="Arial"/>
              </a:rPr>
              <a:t>Эффект для проверки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148840"/>
            <a:ext cx="4069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50">
                <a:solidFill>
                  <a:srgbClr val="1F2937"/>
                </a:solidFill>
                <a:latin typeface="Arial"/>
              </a:rPr>
              <a:t>• быстрее выбираются нужные документы</a:t>
            </a:r>
          </a:p>
          <a:p>
            <a:pPr>
              <a:spcAft>
                <a:spcPts val="500"/>
              </a:spcAft>
            </a:pPr>
            <a:r>
              <a:rPr sz="1550">
                <a:solidFill>
                  <a:srgbClr val="1F2937"/>
                </a:solidFill>
                <a:latin typeface="Arial"/>
              </a:rPr>
              <a:t>• меньше повторной обработки текста</a:t>
            </a:r>
          </a:p>
          <a:p>
            <a:pPr>
              <a:spcAft>
                <a:spcPts val="500"/>
              </a:spcAft>
            </a:pPr>
            <a:r>
              <a:rPr sz="1550">
                <a:solidFill>
                  <a:srgbClr val="1F2937"/>
                </a:solidFill>
                <a:latin typeface="Arial"/>
              </a:rPr>
              <a:t>• сравнение сводится к пересечению готовых наборов</a:t>
            </a:r>
          </a:p>
          <a:p>
            <a:pPr>
              <a:spcAft>
                <a:spcPts val="500"/>
              </a:spcAft>
            </a:pPr>
            <a:r>
              <a:rPr sz="1550">
                <a:solidFill>
                  <a:srgbClr val="1F2937"/>
                </a:solidFill>
                <a:latin typeface="Arial"/>
              </a:rPr>
              <a:t>• архив становится полезнее с каждой новой уникальной работой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9204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50" b="1">
                <a:solidFill>
                  <a:srgbClr val="1F2937"/>
                </a:solidFill>
                <a:latin typeface="Arial"/>
              </a:rPr>
              <a:t>Индекс - это заранее подготовленное представление текста, которое можно использовать повторно.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469880" y="-228600"/>
            <a:ext cx="1645920" cy="1645920"/>
          </a:xfrm>
          <a:prstGeom prst="ellipse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320040" y="5669280"/>
            <a:ext cx="1463040" cy="1463040"/>
          </a:xfrm>
          <a:prstGeom prst="ellipse">
            <a:avLst/>
          </a:prstGeom>
          <a:solidFill>
            <a:srgbClr val="F2E5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937"/>
                </a:solidFill>
                <a:latin typeface="Arial"/>
              </a:rPr>
              <a:t>Результат проверки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1920240" cy="4572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40680" y="647395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B626E"/>
                </a:solidFill>
                <a:latin typeface="Arial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2423160" cy="1143000"/>
          </a:xfrm>
          <a:prstGeom prst="roundRect">
            <a:avLst/>
          </a:prstGeom>
          <a:solidFill>
            <a:srgbClr val="FFFDF8"/>
          </a:solidFill>
          <a:ln>
            <a:solidFill>
              <a:srgbClr val="DAC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1664208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B626E"/>
                </a:solidFill>
                <a:latin typeface="Arial"/>
              </a:rPr>
              <a:t>Оригинальность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1993392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F766E"/>
                </a:solidFill>
                <a:latin typeface="Arial"/>
              </a:rPr>
              <a:t>33.33%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79" y="1463040"/>
            <a:ext cx="2423160" cy="1143000"/>
          </a:xfrm>
          <a:prstGeom prst="roundRect">
            <a:avLst/>
          </a:prstGeom>
          <a:solidFill>
            <a:srgbClr val="FFFDF8"/>
          </a:solidFill>
          <a:ln>
            <a:solidFill>
              <a:srgbClr val="DAC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76472" y="1664208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B626E"/>
                </a:solidFill>
                <a:latin typeface="Arial"/>
              </a:rPr>
              <a:t>Совпавшие слова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6472" y="1993392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B45309"/>
                </a:solidFill>
                <a:latin typeface="Arial"/>
              </a:rPr>
              <a:t>12 из 18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463040"/>
            <a:ext cx="2423160" cy="1143000"/>
          </a:xfrm>
          <a:prstGeom prst="roundRect">
            <a:avLst/>
          </a:prstGeom>
          <a:solidFill>
            <a:srgbClr val="FFFDF8"/>
          </a:solidFill>
          <a:ln>
            <a:solidFill>
              <a:srgbClr val="DAC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65392" y="1664208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B626E"/>
                </a:solidFill>
                <a:latin typeface="Arial"/>
              </a:rPr>
              <a:t>Источники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1993392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563EB"/>
                </a:solidFill>
                <a:latin typeface="Arial"/>
              </a:rPr>
              <a:t>1 документ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19" y="1463040"/>
            <a:ext cx="2423160" cy="1143000"/>
          </a:xfrm>
          <a:prstGeom prst="roundRect">
            <a:avLst/>
          </a:prstGeom>
          <a:solidFill>
            <a:srgbClr val="FFFDF8"/>
          </a:solidFill>
          <a:ln>
            <a:solidFill>
              <a:srgbClr val="DAC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54311" y="1664208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B626E"/>
                </a:solidFill>
                <a:latin typeface="Arial"/>
              </a:rPr>
              <a:t>Отчёт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54311" y="1993392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5A30D"/>
                </a:solidFill>
                <a:latin typeface="Arial"/>
              </a:rPr>
              <a:t>подсветка текста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246120"/>
            <a:ext cx="10287000" cy="1508760"/>
          </a:xfrm>
          <a:prstGeom prst="roundRect">
            <a:avLst/>
          </a:prstGeom>
          <a:solidFill>
            <a:srgbClr val="FFFDF8"/>
          </a:solidFill>
          <a:ln>
            <a:solidFill>
              <a:srgbClr val="DAC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34440" y="3520440"/>
            <a:ext cx="9646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F2937"/>
                </a:solidFill>
                <a:latin typeface="Arial"/>
              </a:rPr>
              <a:t>Фрагменты с совпадениями выделяются прямо в тексте, а рядом показываются источники.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69080" y="4041648"/>
            <a:ext cx="4114800" cy="310896"/>
          </a:xfrm>
          <a:prstGeom prst="rect">
            <a:avLst/>
          </a:prstGeom>
          <a:solidFill>
            <a:srgbClr val="FACC15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96512" y="4069080"/>
            <a:ext cx="4041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Arial"/>
              </a:rPr>
              <a:t>совпадающий фрагмент учебной работы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469880" y="-228600"/>
            <a:ext cx="1645920" cy="1645920"/>
          </a:xfrm>
          <a:prstGeom prst="ellipse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320040" y="5669280"/>
            <a:ext cx="1463040" cy="1463040"/>
          </a:xfrm>
          <a:prstGeom prst="ellipse">
            <a:avLst/>
          </a:prstGeom>
          <a:solidFill>
            <a:srgbClr val="F2E5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937"/>
                </a:solidFill>
                <a:latin typeface="Arial"/>
              </a:rPr>
              <a:t>Испытания и ограничения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1920240" cy="4572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40680" y="647395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B626E"/>
                </a:solidFill>
                <a:latin typeface="Arial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5303520" cy="4114800"/>
          </a:xfrm>
          <a:prstGeom prst="roundRect">
            <a:avLst/>
          </a:prstGeom>
          <a:solidFill>
            <a:srgbClr val="E8F4F0"/>
          </a:solidFill>
          <a:ln>
            <a:solidFill>
              <a:srgbClr val="DAC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162763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F766E"/>
                </a:solidFill>
                <a:latin typeface="Arial"/>
              </a:rPr>
              <a:t>Проверенные сценарии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4617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1F2937"/>
                </a:solidFill>
                <a:latin typeface="Arial"/>
              </a:rPr>
              <a:t>• создание пользователя и добавление документов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F2937"/>
                </a:solidFill>
                <a:latin typeface="Arial"/>
              </a:rPr>
              <a:t>• проверка текста с найденными совпадениями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F2937"/>
                </a:solidFill>
                <a:latin typeface="Arial"/>
              </a:rPr>
              <a:t>• применение правил исключений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F2937"/>
                </a:solidFill>
                <a:latin typeface="Arial"/>
              </a:rPr>
              <a:t>• формирование архива уникальных работ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F2937"/>
                </a:solidFill>
                <a:latin typeface="Arial"/>
              </a:rPr>
              <a:t>• корректная ошибка для PDF без текстового слоя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325880"/>
            <a:ext cx="4572000" cy="4114800"/>
          </a:xfrm>
          <a:prstGeom prst="roundRect">
            <a:avLst/>
          </a:prstGeom>
          <a:solidFill>
            <a:srgbClr val="FFFAF1"/>
          </a:solidFill>
          <a:ln>
            <a:solidFill>
              <a:srgbClr val="E8D1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12280" y="1627632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B45309"/>
                </a:solidFill>
                <a:latin typeface="Arial"/>
              </a:rPr>
              <a:t>Ограничения версии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2240280"/>
            <a:ext cx="39776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Arial"/>
              </a:rPr>
              <a:t>• сканированные PDF пока не распознаются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Arial"/>
              </a:rPr>
              <a:t>• глубокое перефразирование требует более сложного семантического анализа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406908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B626E"/>
                </a:solidFill>
                <a:latin typeface="Arial"/>
              </a:rPr>
              <a:t>Ограничения зафиксированы и могут быть закрыты в следующих версиях.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469880" y="-228600"/>
            <a:ext cx="1645920" cy="1645920"/>
          </a:xfrm>
          <a:prstGeom prst="ellipse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320040" y="5669280"/>
            <a:ext cx="1463040" cy="1463040"/>
          </a:xfrm>
          <a:prstGeom prst="ellipse">
            <a:avLst/>
          </a:prstGeom>
          <a:solidFill>
            <a:srgbClr val="F2E5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937"/>
                </a:solidFill>
                <a:latin typeface="Arial"/>
              </a:rPr>
              <a:t>Заключение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1920240" cy="4572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40680" y="647395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B626E"/>
                </a:solidFill>
                <a:latin typeface="Arial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65836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50">
                <a:solidFill>
                  <a:srgbClr val="1F2937"/>
                </a:solidFill>
                <a:latin typeface="Arial"/>
              </a:rPr>
              <a:t>• реализована локальная система проверки текстов на заимствования</a:t>
            </a:r>
          </a:p>
          <a:p>
            <a:pPr>
              <a:spcAft>
                <a:spcPts val="800"/>
              </a:spcAft>
            </a:pPr>
            <a:r>
              <a:rPr sz="1750">
                <a:solidFill>
                  <a:srgbClr val="1F2937"/>
                </a:solidFill>
                <a:latin typeface="Arial"/>
              </a:rPr>
              <a:t>• добавлены загрузка документов, правила исключений, отчёты и подсветка совпадений</a:t>
            </a:r>
          </a:p>
          <a:p>
            <a:pPr>
              <a:spcAft>
                <a:spcPts val="800"/>
              </a:spcAft>
            </a:pPr>
            <a:r>
              <a:rPr sz="1750">
                <a:solidFill>
                  <a:srgbClr val="1F2937"/>
                </a:solidFill>
                <a:latin typeface="Arial"/>
              </a:rPr>
              <a:t>• применён понятный метод сравнения на основе триграмм и хешей</a:t>
            </a:r>
          </a:p>
          <a:p>
            <a:pPr>
              <a:spcAft>
                <a:spcPts val="800"/>
              </a:spcAft>
            </a:pPr>
            <a:r>
              <a:rPr sz="1750">
                <a:solidFill>
                  <a:srgbClr val="1F2937"/>
                </a:solidFill>
                <a:latin typeface="Arial"/>
              </a:rPr>
              <a:t>• база данных хранит документы, результаты и готовые индексы для повторного анализа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417320"/>
            <a:ext cx="3337560" cy="2926080"/>
          </a:xfrm>
          <a:prstGeom prst="roundRect">
            <a:avLst/>
          </a:prstGeom>
          <a:solidFill>
            <a:srgbClr val="E8F4F0"/>
          </a:solidFill>
          <a:ln>
            <a:solidFill>
              <a:srgbClr val="DAC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38160" y="182880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F766E"/>
                </a:solidFill>
                <a:latin typeface="Arial"/>
              </a:rPr>
              <a:t>Результат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560320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rial"/>
              </a:rPr>
              <a:t>готовый локальный прототип для первичной проверки оригинальности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892040"/>
            <a:ext cx="10378440" cy="685800"/>
          </a:xfrm>
          <a:prstGeom prst="roundRect">
            <a:avLst/>
          </a:prstGeom>
          <a:solidFill>
            <a:srgbClr val="FFFAF1"/>
          </a:solidFill>
          <a:ln>
            <a:solidFill>
              <a:srgbClr val="E8D1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5074920"/>
            <a:ext cx="9921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50" b="0">
                <a:solidFill>
                  <a:srgbClr val="B45309"/>
                </a:solidFill>
                <a:latin typeface="Arial"/>
              </a:rPr>
              <a:t>Дальнейшее развитие: распознавание сканов, более развитый интерфейс и семантическое сравнение перефразированных фрагментов.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895</Words>
  <Application>Microsoft Office PowerPoint</Application>
  <PresentationFormat>Широкоэкранный</PresentationFormat>
  <Paragraphs>166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Владимир</dc:creator>
  <cp:keywords/>
  <dc:description>generated using python-pptx</dc:description>
  <cp:lastModifiedBy>Владимир</cp:lastModifiedBy>
  <cp:revision>3</cp:revision>
  <dcterms:created xsi:type="dcterms:W3CDTF">2013-01-27T09:14:16Z</dcterms:created>
  <dcterms:modified xsi:type="dcterms:W3CDTF">2026-05-13T23:45:04Z</dcterms:modified>
  <cp:category/>
</cp:coreProperties>
</file>